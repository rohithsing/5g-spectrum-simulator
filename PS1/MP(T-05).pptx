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7" r:id="rId2"/>
    <p:sldId id="259" r:id="rId3"/>
    <p:sldId id="277" r:id="rId4"/>
    <p:sldId id="278" r:id="rId5"/>
    <p:sldId id="279" r:id="rId6"/>
    <p:sldId id="283" r:id="rId7"/>
    <p:sldId id="284" r:id="rId8"/>
    <p:sldId id="289" r:id="rId9"/>
    <p:sldId id="290" r:id="rId10"/>
    <p:sldId id="291" r:id="rId11"/>
    <p:sldId id="286" r:id="rId12"/>
    <p:sldId id="292" r:id="rId13"/>
    <p:sldId id="293" r:id="rId14"/>
    <p:sldId id="288" r:id="rId15"/>
    <p:sldId id="261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5AE8"/>
    <a:srgbClr val="DA76EE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10" autoAdjust="0"/>
    <p:restoredTop sz="9462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31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fld id="{D00CB24E-0658-45AF-BF6E-C2518D440E8F}" type="datetimeFigureOut">
              <a:rPr lang="en-US"/>
              <a:t>8/21/2026</a:t>
            </a:fld>
            <a:endParaRPr lang="en-US" dirty="0"/>
          </a:p>
        </p:txBody>
      </p:sp>
      <p:sp>
        <p:nvSpPr>
          <p:cNvPr id="104865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04865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fld id="{D421A7DE-6EE8-4C79-B0FA-3BEEDD2A4B42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3757934-C012-48D7-9B8B-63D98ED79C81}" type="datetime1">
              <a:rPr lang="en-US"/>
              <a:t>8/21/2026</a:t>
            </a:fld>
            <a:endParaRPr lang="en-US" dirty="0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ACDFD73-D50E-4A69-8E81-0A6D88E4CE6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57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EAE7E046-66AF-4408-A0AF-235B660643BF}" type="datetime1">
              <a:rPr lang="en-US"/>
              <a:t>8/21/2026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FDE00D0-F62A-48D2-BCE9-6D43FFF36F7A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89C7D65-19C7-421E-A302-6092C99EEB12}" type="datetime1">
              <a:rPr lang="en-US"/>
              <a:t>8/21/2026</a:t>
            </a:fld>
            <a:endParaRPr lang="en-US" dirty="0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BA22335B-C82D-4FCC-B0AF-B6FE61092889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7D6B6E5-0DF2-482C-AE4E-4F067F872266}" type="datetime1">
              <a:rPr lang="en-US"/>
              <a:t>8/21/2026</a:t>
            </a:fld>
            <a:endParaRPr lang="en-US" dirty="0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236C85CA-5F1A-4E89-A537-6F7059FA8845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3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39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5FB54EAB-F888-423F-BF26-967F81239AAE}" type="datetime1">
              <a:rPr lang="en-US"/>
              <a:t>8/21/2026</a:t>
            </a:fld>
            <a:endParaRPr lang="en-US" dirty="0"/>
          </a:p>
        </p:txBody>
      </p:sp>
      <p:sp>
        <p:nvSpPr>
          <p:cNvPr id="104864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355593-4110-4466-8677-5DAC6190497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224334AD-E4BA-4C98-97DF-934BAD5AD952}" type="datetime1">
              <a:rPr lang="en-US"/>
              <a:t>8/21/2026</a:t>
            </a:fld>
            <a:endParaRPr lang="en-US" dirty="0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4464977D-37A2-4CEB-8748-293A5C72AA6E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7B29BCFE-84C2-4B76-A988-4BA5C14CA17A}" type="datetime1">
              <a:rPr lang="en-US"/>
              <a:t>8/21/2026</a:t>
            </a:fld>
            <a:endParaRPr lang="en-US" dirty="0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81FBC7BD-5522-48B6-A2DC-A4CCB73223A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C109A21E-E7B9-4305-BBD8-BB9F69107CE7}" type="datetime1">
              <a:rPr lang="en-US"/>
              <a:t>8/21/2026</a:t>
            </a:fld>
            <a:endParaRPr lang="en-US" dirty="0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F2C4296F-31CF-4E74-82C5-398046D01F24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8FF90969-D69D-4F4C-8964-35C50439DF7D}" type="datetime1">
              <a:rPr lang="en-US"/>
              <a:t>8/21/2026</a:t>
            </a:fld>
            <a:endParaRPr lang="en-US" dirty="0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D4979C85-1787-4E3D-98EA-C7A6D063762D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A04D866C-FD47-4889-9FAA-5D9ABF64E1FF}" type="datetime1">
              <a:rPr lang="en-US"/>
              <a:t>8/21/2026</a:t>
            </a:fld>
            <a:endParaRPr lang="en-US" dirty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1F9C5681-1D59-4A7B-8847-F9A342983DB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486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fld id="{6E123B4E-A137-4971-84F1-0ABEDEB1D985}" type="datetime1">
              <a:rPr lang="en-US"/>
              <a:t>8/21/2026</a:t>
            </a:fld>
            <a:endParaRPr lang="en-US" dirty="0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latin typeface="Calibri" panose="020F0502020204030204" pitchFamily="34" charset="0"/>
              </a:defRPr>
            </a:lvl1pPr>
          </a:lstStyle>
          <a:p>
            <a:fld id="{60B7134E-F3BB-4E45-83CC-68E71D97DCD7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hart  Description automatically generated with medium confidence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762000" y="-69368"/>
            <a:ext cx="10515600" cy="1925155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r>
              <a:rPr lang="en-US" sz="1400" b="1" dirty="0">
                <a:latin typeface="Times New Roman" panose="02020603050405020304"/>
                <a:cs typeface="Times New Roman" panose="02020603050405020304"/>
              </a:rPr>
              <a:t>IV YEAR / I SEMESTER</a:t>
            </a:r>
            <a:endParaRPr lang="en-GB" sz="14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spcBef>
                <a:spcPts val="1000"/>
              </a:spcBef>
            </a:pPr>
            <a:r>
              <a:rPr lang="en-US" sz="1400" b="1" dirty="0">
                <a:latin typeface="Times New Roman" panose="02020603050405020304"/>
                <a:cs typeface="Times New Roman" panose="02020603050405020304"/>
              </a:rPr>
              <a:t>ACADEMIC YEAR : 2026 –27</a:t>
            </a: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sz="1800" b="1" dirty="0">
                <a:latin typeface="Times New Roman" panose="02020603050405020304"/>
                <a:cs typeface="Times New Roman" panose="02020603050405020304"/>
              </a:rPr>
            </a:br>
            <a:endParaRPr lang="en-GB" sz="1800" dirty="0">
              <a:latin typeface="Times New Roman" panose="02020603050405020304"/>
              <a:cs typeface="Times New Roman" panose="02020603050405020304"/>
            </a:endParaRPr>
          </a:p>
          <a:p>
            <a:endParaRPr lang="en-GB" sz="1800" dirty="0">
              <a:latin typeface="Times New Roman" panose="02020603050405020304"/>
              <a:cs typeface="Calibri Light" panose="020F0302020204030204"/>
            </a:endParaRP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762000" y="731284"/>
            <a:ext cx="10515600" cy="4351338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05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 Artificial Intelligence &amp; Machine Learning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Intelligent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Spectrum Allocation for Efficient 5G/6G Networks</a:t>
            </a: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IN" sz="1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23QM1A6692        </a:t>
            </a: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PEDDINA VENKAT KALYAN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23QM1A66A4       ROHITH SINGH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24QM5A6602        KESHABOINA SAIRAM YADAV</a:t>
            </a:r>
          </a:p>
          <a:p>
            <a:pPr marL="0" indent="0" algn="just">
              <a:buNone/>
            </a:pPr>
            <a:r>
              <a:rPr lang="en-IN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    24QM5A6604        NATTE GANDHI</a:t>
            </a:r>
            <a:endParaRPr lang="en-IN" sz="1400" b="1" dirty="0">
              <a:solidFill>
                <a:srgbClr val="0D0E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</a:t>
            </a:r>
          </a:p>
          <a:p>
            <a:pPr marL="0" indent="0" algn="ctr">
              <a:buNone/>
            </a:pPr>
            <a:r>
              <a:rPr lang="en-GB" sz="1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Dr. MD. Adam Baba</a:t>
            </a:r>
            <a:endParaRPr lang="en-GB" sz="1400" b="1" dirty="0">
              <a:solidFill>
                <a:srgbClr val="1F1F1F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ctr"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</a:t>
            </a:r>
          </a:p>
          <a:p>
            <a:pPr marL="0" indent="0" algn="ctr">
              <a:buNone/>
            </a:pPr>
            <a:r>
              <a:rPr lang="en-GB" sz="14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 of CSE-AIML</a:t>
            </a:r>
          </a:p>
          <a:p>
            <a:pPr marL="0" indent="0" algn="just">
              <a:buNone/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(AI &amp; ML)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 REDDY COLLEGE OF ENGINEERING AND TECHNOLOGY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Moinabad, Hyderabad, Telangana 500075</a:t>
            </a:r>
            <a:endParaRPr lang="en-GB" sz="14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GB" sz="18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/>
              <a:t>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200" b="1" dirty="0">
                <a:latin typeface="Times New Roman" panose="02020603050405020304"/>
                <a:cs typeface="Times New Roman" panose="02020603050405020304"/>
              </a:rPr>
              <a:t>PROBLEM STATEMENT</a:t>
            </a:r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2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822CA-0F5B-3CAD-64A3-910FAECED80A}"/>
              </a:ext>
            </a:extLst>
          </p:cNvPr>
          <p:cNvSpPr txBox="1"/>
          <p:nvPr/>
        </p:nvSpPr>
        <p:spPr>
          <a:xfrm>
            <a:off x="1695450" y="1291802"/>
            <a:ext cx="828675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operators in 5G/6G environments face inefficient spectrum allocation due to dynamic and unpredictable wireless traffic patterns.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static allocation methods cannot adapt to real-time variations in user demand, leading to 30–40% spectrum underutilization.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reduced network throughput, increased latency, and degraded Quality of Service (QoS).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urban environments and peak usage periods exacerbate congestion challenges.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lack of adaptive spectrum management limits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nextgeneration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network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12E62D-B5F3-DB80-D2E6-F49D178A5C3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3700" b="1" i="0" u="none" strike="noStrike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PLACE </a:t>
            </a:r>
            <a:r>
              <a:rPr lang="en-US" sz="3800" b="1" i="0" u="none" strike="noStrike" dirty="0"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0B34D-1DAD-43E0-B8E5-25193155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kern="120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7FB8AE-AA8E-AC55-37D9-72492FE5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8" b="25649"/>
          <a:stretch>
            <a:fillRect/>
          </a:stretch>
        </p:blipFill>
        <p:spPr>
          <a:xfrm>
            <a:off x="466724" y="1243011"/>
            <a:ext cx="11454975" cy="469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0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F4755-914E-81E3-3C52-8C52375A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22" y="246459"/>
            <a:ext cx="10515600" cy="1325563"/>
          </a:xfrm>
        </p:spPr>
        <p:txBody>
          <a:bodyPr/>
          <a:lstStyle/>
          <a:p>
            <a:r>
              <a:rPr lang="en-IN" sz="3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Discussion</a:t>
            </a:r>
            <a:br>
              <a:rPr lang="en-IN" sz="3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53455-F273-482B-0EB4-CF661CB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88" y="1253331"/>
            <a:ext cx="10684412" cy="4351338"/>
          </a:xfrm>
        </p:spPr>
        <p:txBody>
          <a:bodyPr/>
          <a:lstStyle/>
          <a:p>
            <a:pPr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Yuanhao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"A flexible and scalable multi-agent learning framework for dynamic RAN slicing in 6G native-AI networks." 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Mobile Computing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01B2-19F2-0E41-928A-45058B10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4</a:t>
            </a:fld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52E087-3C80-39EB-7F7C-E2827A184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618065"/>
              </p:ext>
            </p:extLst>
          </p:nvPr>
        </p:nvGraphicFramePr>
        <p:xfrm>
          <a:off x="889522" y="3138054"/>
          <a:ext cx="10735734" cy="26508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416368437"/>
                    </a:ext>
                  </a:extLst>
                </a:gridCol>
                <a:gridCol w="2181578">
                  <a:extLst>
                    <a:ext uri="{9D8B030D-6E8A-4147-A177-3AD203B41FA5}">
                      <a16:colId xmlns:a16="http://schemas.microsoft.com/office/drawing/2014/main" val="3240731465"/>
                    </a:ext>
                  </a:extLst>
                </a:gridCol>
                <a:gridCol w="1662289">
                  <a:extLst>
                    <a:ext uri="{9D8B030D-6E8A-4147-A177-3AD203B41FA5}">
                      <a16:colId xmlns:a16="http://schemas.microsoft.com/office/drawing/2014/main" val="4233147136"/>
                    </a:ext>
                  </a:extLst>
                </a:gridCol>
                <a:gridCol w="1916289">
                  <a:extLst>
                    <a:ext uri="{9D8B030D-6E8A-4147-A177-3AD203B41FA5}">
                      <a16:colId xmlns:a16="http://schemas.microsoft.com/office/drawing/2014/main" val="709157432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816378262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2479362460"/>
                    </a:ext>
                  </a:extLst>
                </a:gridCol>
              </a:tblGrid>
              <a:tr h="5301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959223"/>
                  </a:ext>
                </a:extLst>
              </a:tr>
              <a:tr h="21206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(2026)</a:t>
                      </a:r>
                    </a:p>
                    <a:p>
                      <a:pPr algn="l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Mobile Computing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6G traffic and changing RAN slice configurations make static resource management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RL, SF-DTMC and Adaptive Retention Framework (ARF)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flexible and scalable dynamic RAN slicing without requiring frequent model retraining.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utilization, SLA compliance, user satisfaction and reduces reconfiguration overhead.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 </a:t>
                      </a: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 slicing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rather than dedicated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15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76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1DBC-0BF6-7927-64D7-2E953C85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486C7-5330-7F86-75C6-D2D3238EFD6E}"/>
              </a:ext>
            </a:extLst>
          </p:cNvPr>
          <p:cNvSpPr txBox="1"/>
          <p:nvPr/>
        </p:nvSpPr>
        <p:spPr>
          <a:xfrm>
            <a:off x="939019" y="1198133"/>
            <a:ext cx="9879036" cy="428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lvl="0" algn="just">
              <a:lnSpc>
                <a:spcPct val="150000"/>
              </a:lnSpc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 AI-based adaptive spectrum allocation mechanism for 5G/6G networks.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techniques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intelligent spectrum allocation decisions.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 available spectrum according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conditions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demand, number of users, SINR, interference, and QoS requirements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dependence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static spectrum allocation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methods. 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utilization and adaptability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5G/6G networks.</a:t>
            </a:r>
          </a:p>
          <a:p>
            <a:pPr lvl="0" algn="just">
              <a:lnSpc>
                <a:spcPct val="150000"/>
              </a:lnSpc>
            </a:pPr>
            <a:endParaRPr lang="en-IN" sz="2000" b="1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endParaRPr lang="en-IN" sz="20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32308-6868-7384-C6C7-0649655DEA54}"/>
              </a:ext>
            </a:extLst>
          </p:cNvPr>
          <p:cNvSpPr txBox="1"/>
          <p:nvPr/>
        </p:nvSpPr>
        <p:spPr>
          <a:xfrm>
            <a:off x="939019" y="452223"/>
            <a:ext cx="60983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8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</p:spTree>
    <p:extLst>
      <p:ext uri="{BB962C8B-B14F-4D97-AF65-F5344CB8AC3E}">
        <p14:creationId xmlns:p14="http://schemas.microsoft.com/office/powerpoint/2010/main" val="355597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61F4-9038-9358-5544-9840D879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DBF71-7409-786F-AEC5-00D0CAE8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4C361-378F-FBDE-C53C-3921941CDBA1}"/>
              </a:ext>
            </a:extLst>
          </p:cNvPr>
          <p:cNvSpPr txBox="1"/>
          <p:nvPr/>
        </p:nvSpPr>
        <p:spPr>
          <a:xfrm>
            <a:off x="939019" y="1129331"/>
            <a:ext cx="9541413" cy="243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5G/6G wireless networks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user traffic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Dense network scenarios</a:t>
            </a:r>
          </a:p>
          <a:p>
            <a:pPr marL="342900" lvl="0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extension to real-time network deployment</a:t>
            </a:r>
            <a:endParaRPr lang="en-IN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D5B71-99B9-3432-137B-896F429EAA04}"/>
              </a:ext>
            </a:extLst>
          </p:cNvPr>
          <p:cNvSpPr txBox="1"/>
          <p:nvPr/>
        </p:nvSpPr>
        <p:spPr>
          <a:xfrm>
            <a:off x="939019" y="452223"/>
            <a:ext cx="60983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38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</p:spTree>
    <p:extLst>
      <p:ext uri="{BB962C8B-B14F-4D97-AF65-F5344CB8AC3E}">
        <p14:creationId xmlns:p14="http://schemas.microsoft.com/office/powerpoint/2010/main" val="3736047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932-A60A-78AB-3486-CCDFCAFF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12BC-D066-7F82-053F-A3A3FEC2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7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96332F-0860-6A75-EFD1-16C0E3B9B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03179"/>
              </p:ext>
            </p:extLst>
          </p:nvPr>
        </p:nvGraphicFramePr>
        <p:xfrm>
          <a:off x="838200" y="1144271"/>
          <a:ext cx="10735734" cy="53865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81578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662289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16289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517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21114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Transactions on Mobile Computing</a:t>
                      </a:r>
                      <a:endParaRPr lang="en-I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6G traffic and changing RAN slice configurations make static resource management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RL, SF-DTMC and Adaptive Retention Framework (ARF)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flexible and scalable dynamic RAN slicing without requiring frequent model retraining.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utilization, SLA compliance, user satisfaction and reduces reconfiguration overhead.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 slicing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rather than dedicated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25830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Network and Service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edge-cloud networks must coordinate radio and computing resources under changing service demands.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D3QN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Jointly orchestrates network resources for different slices and service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adaptive resource allocation and low-latency edge-cloud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computing/offloading resources, making it broader than spectrum-only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91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96392-CC88-AD67-F0CC-F0D7C9E2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3999-11C7-E9E1-D14C-4CAB08BE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E5E6C-4D6A-895B-973C-4AD1020D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8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7182C-A7F3-5FD1-5540-DB2B85F88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32333"/>
              </p:ext>
            </p:extLst>
          </p:nvPr>
        </p:nvGraphicFramePr>
        <p:xfrm>
          <a:off x="838200" y="1210418"/>
          <a:ext cx="10845802" cy="51459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0867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74400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650448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64819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807634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807634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461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23900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Yuan et al. (2026)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spectrum-sharing networks experience changing channel conditions and resource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Latent-learning-based resource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joint channel allocation and transmit-power optimization while learning changing network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adaptive resource allocation and network performance under dynamic spectrum sharing.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channel prediction and power allocation along with spectrum sharing.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23900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Alhazmi &amp; Arafah (2025)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sz="180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Sensors</a:t>
                      </a:r>
                      <a:endParaRPr lang="en-IN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Ultra-dense 5G networks suffer from inefficient resource allocation and load imbalance between cells.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Network-Based Adaptive Resource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neural networks with network information to dynamically select and allocate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improvements in data rate, spectral efficiency, resource utilization and blocking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designed for heterogeneous ultra-dense RAN resource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1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C00B-D1E3-DBCA-F5DC-64890A03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F0E-300B-6AC2-ABE2-0DE1ADA5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1F74-2112-D2AB-355B-B0D81269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9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F216E3-751E-51A2-CDB7-FD982A9E2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67748"/>
              </p:ext>
            </p:extLst>
          </p:nvPr>
        </p:nvGraphicFramePr>
        <p:xfrm>
          <a:off x="838200" y="1159933"/>
          <a:ext cx="10515600" cy="5212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2382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112818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Ataeebojd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</a:t>
                      </a:r>
                    </a:p>
                    <a:p>
                      <a:pPr algn="l">
                        <a:buNone/>
                      </a:pP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eMBB and URLLC services have different resource and QoS requirements in dynamic wireless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Multi-Timescale Resource Reservation &amp;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Considers spatial-temporal traffic and channel conditions for resource reservation and allocation.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management while supporting coexistence of different service types.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concentrates on multi-timescale reservation and eMBB/URLLC coexistence.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 (2025)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75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Wireless Communications</a:t>
                      </a:r>
                      <a:endParaRPr kumimoji="0" lang="en-IN" sz="175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Ultra-dense networks face interference and changing user requirements, making fixed power allocation inefficient.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with Noisy DQN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adaptive power allocation according to network conditions and user priorities.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power allocation performance under dynamic and interference-heavy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primarily on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allocation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spectrum-band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524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DF5E-72EE-1423-602F-994C1BCA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264D-6A8E-762A-FB8C-558AFEB8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382058"/>
            <a:ext cx="10515600" cy="1325563"/>
          </a:xfrm>
        </p:spPr>
        <p:txBody>
          <a:bodyPr/>
          <a:lstStyle/>
          <a:p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Survey</a:t>
            </a:r>
            <a:r>
              <a:rPr kumimoji="0" lang="en-IN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DC0FB-7ADF-CA97-36DE-97EA69E7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9800" y="6373283"/>
            <a:ext cx="2743200" cy="365125"/>
          </a:xfrm>
        </p:spPr>
        <p:txBody>
          <a:bodyPr/>
          <a:lstStyle/>
          <a:p>
            <a:fld id="{6FDE00D0-F62A-48D2-BCE9-6D43FFF36F7A}" type="slidenum">
              <a:rPr lang="en-US" altLang="en-US" smtClean="0"/>
              <a:t>10</a:t>
            </a:fld>
            <a:endParaRPr lang="en-US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A8F79-F4BE-728A-8095-3FF7B6849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785226"/>
              </p:ext>
            </p:extLst>
          </p:nvPr>
        </p:nvGraphicFramePr>
        <p:xfrm>
          <a:off x="787400" y="1163372"/>
          <a:ext cx="10515600" cy="4942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30867">
                  <a:extLst>
                    <a:ext uri="{9D8B030D-6E8A-4147-A177-3AD203B41FA5}">
                      <a16:colId xmlns:a16="http://schemas.microsoft.com/office/drawing/2014/main" val="4245886486"/>
                    </a:ext>
                  </a:extLst>
                </a:gridCol>
                <a:gridCol w="2074333">
                  <a:extLst>
                    <a:ext uri="{9D8B030D-6E8A-4147-A177-3AD203B41FA5}">
                      <a16:colId xmlns:a16="http://schemas.microsoft.com/office/drawing/2014/main" val="1534433181"/>
                    </a:ext>
                  </a:extLst>
                </a:gridCol>
                <a:gridCol w="1532467">
                  <a:extLst>
                    <a:ext uri="{9D8B030D-6E8A-4147-A177-3AD203B41FA5}">
                      <a16:colId xmlns:a16="http://schemas.microsoft.com/office/drawing/2014/main" val="2268739435"/>
                    </a:ext>
                  </a:extLst>
                </a:gridCol>
                <a:gridCol w="1972733">
                  <a:extLst>
                    <a:ext uri="{9D8B030D-6E8A-4147-A177-3AD203B41FA5}">
                      <a16:colId xmlns:a16="http://schemas.microsoft.com/office/drawing/2014/main" val="15700317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1390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825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 &amp; Verma (2025)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75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International Journal of Network Management</a:t>
                      </a:r>
                      <a:endParaRPr lang="en-IN" sz="175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Rapidly changing traffic makes it difficult to determine future spectrum requirements accurately.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Spectrum Demand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predictive intelligence to estimate spectrum requirements for 5G and beyond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proactive spectrum management and adaptation to changing demand.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more on </a:t>
                      </a:r>
                      <a:r>
                        <a:rPr lang="en-IN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 prediction</a:t>
                      </a: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 the actual real-time allocation mechanism.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93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 et al. (2025) </a:t>
                      </a:r>
                    </a:p>
                    <a:p>
                      <a:pPr algn="l">
                        <a:buNone/>
                      </a:pPr>
                      <a:endParaRPr lang="en-IN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networks experience complex interference relationships that affect resource allocation.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 Network with Jumping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wireless links and interference relationships using graph-based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resource allocation/beamforming performance under different network and interference conditions.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addresses </a:t>
                      </a:r>
                      <a:r>
                        <a:rPr lang="en-IN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beamforming and resource allocation</a:t>
                      </a:r>
                      <a:r>
                        <a:rPr lang="en-IN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rather than direct spectrum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62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3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8D90-7335-7637-6657-7D83E827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marR="0" lvl="0" indent="-228600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tabLst/>
              <a:defRPr/>
            </a:pPr>
            <a:r>
              <a:rPr kumimoji="0" lang="en-IN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</a:t>
            </a:r>
            <a:b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6AEB-BB65-EF24-7CCC-C40D0507C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36" y="1405731"/>
            <a:ext cx="10676467" cy="4351338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— Spectrum-Specific Allocation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— Multi-Objective Resource Management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— Real-Time Adaptability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6679D-C8C9-8091-995B-AC81018E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E00D0-F62A-48D2-BCE9-6D43FFF36F7A}" type="slidenum">
              <a:rPr lang="en-US" altLang="en-US" smtClean="0"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562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2163-37C9-67E3-7AD9-43F26023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61B8-B65B-384F-7C24-C04BC776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Innovation</a:t>
            </a:r>
            <a:br>
              <a:rPr lang="en-IN" b="1" dirty="0"/>
            </a:br>
            <a:endParaRPr lang="en-US" dirty="0"/>
          </a:p>
        </p:txBody>
      </p:sp>
      <p:pic>
        <p:nvPicPr>
          <p:cNvPr id="9" name="Content Placeholder 8" descr="Generated image: Proposed System Architecture Flowchart">
            <a:extLst>
              <a:ext uri="{FF2B5EF4-FFF2-40B4-BE49-F238E27FC236}">
                <a16:creationId xmlns:a16="http://schemas.microsoft.com/office/drawing/2014/main" id="{8BE59ACE-13D3-EC3C-9982-2DF0809229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7787" y="1400175"/>
            <a:ext cx="9496425" cy="428625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98C25-9270-30BE-6EE0-C40F92D2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1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AF26-EEA1-ECF9-A6B2-AFC2A00D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Framework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CFBD1D-AC50-DF85-017D-9567A140ED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225296"/>
            <a:ext cx="10515600" cy="493776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9D2AA-029A-3AB5-4BA2-C727C620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C85CA-5F1A-4E89-A537-6F7059FA8845}" type="slidenum">
              <a:rPr lang="en-US" altLang="en-US" smtClean="0"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6266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8FAD-DE2E-08FA-64DB-BA3D7F0D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/ Innovation</a:t>
            </a:r>
            <a:br>
              <a:rPr lang="en-IN" b="1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00613-30C4-470A-BB3D-7D1096D5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FDE00D0-F62A-48D2-BCE9-6D43FFF36F7A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0B919-6304-646D-8025-F510E2CBB75D}"/>
              </a:ext>
            </a:extLst>
          </p:cNvPr>
          <p:cNvSpPr txBox="1"/>
          <p:nvPr/>
        </p:nvSpPr>
        <p:spPr>
          <a:xfrm>
            <a:off x="1000125" y="1114425"/>
            <a:ext cx="980122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&amp; Network 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users generate different service demands, while the network monitor continuously collects real-time network information.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State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considers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demand, SINR, interference, QoS requirements, number of users, and spectrum utilization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AI/RL Controller: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AI/RL controller analyzes the network state, learns from changing conditions, and makes intelligent allocation decisions.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Spectrum Allocation: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AI decision, the system performs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selection, bandwidth allocation, and priority scheduling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Feedback: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evaluates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utilization, throughput, latency, and QoS satisfaction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feeds the results back to the AI/RL controller for continuous adaptation.</a:t>
            </a:r>
          </a:p>
        </p:txBody>
      </p:sp>
    </p:spTree>
    <p:extLst>
      <p:ext uri="{BB962C8B-B14F-4D97-AF65-F5344CB8AC3E}">
        <p14:creationId xmlns:p14="http://schemas.microsoft.com/office/powerpoint/2010/main" val="56210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7BD-5522-48B6-A2DC-A4CCB73223AD}" type="slidenum">
              <a:rPr lang="en-US" altLang="en-US" smtClean="0"/>
              <a:t>15</a:t>
            </a:fld>
            <a:endParaRPr lang="en-US" altLang="en-US" dirty="0"/>
          </a:p>
        </p:txBody>
      </p:sp>
      <p:sp>
        <p:nvSpPr>
          <p:cNvPr id="1048597" name="Rectangle 2"/>
          <p:cNvSpPr/>
          <p:nvPr/>
        </p:nvSpPr>
        <p:spPr>
          <a:xfrm>
            <a:off x="4346226" y="2899691"/>
            <a:ext cx="349954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1140</Words>
  <Application>Microsoft Office PowerPoint</Application>
  <PresentationFormat>Widescreen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 IV YEAR / I SEMESTER ACADEMIC YEAR : 2026 –27      </vt:lpstr>
      <vt:lpstr> PROBLEM STATEMENT</vt:lpstr>
      <vt:lpstr>PowerPoint Presentation</vt:lpstr>
      <vt:lpstr>Base Paper Discussion </vt:lpstr>
      <vt:lpstr>PowerPoint Presentation</vt:lpstr>
      <vt:lpstr>PowerPoint Presentation</vt:lpstr>
      <vt:lpstr>Literature Survey </vt:lpstr>
      <vt:lpstr>Literature Survey </vt:lpstr>
      <vt:lpstr>Literature Survey </vt:lpstr>
      <vt:lpstr>Literature Survey </vt:lpstr>
      <vt:lpstr>Research Gap </vt:lpstr>
      <vt:lpstr>Proposed Work / Innovation </vt:lpstr>
      <vt:lpstr>Comparison Framework</vt:lpstr>
      <vt:lpstr>Proposed Work / Innovation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Minu Goswami</dc:creator>
  <cp:lastModifiedBy>Rohith Singh</cp:lastModifiedBy>
  <cp:revision>25</cp:revision>
  <dcterms:created xsi:type="dcterms:W3CDTF">2021-06-30T23:40:00Z</dcterms:created>
  <dcterms:modified xsi:type="dcterms:W3CDTF">2026-08-21T04:51:52Z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d98ca0d85f11460b9023d25ebee4efd8</vt:lpwstr>
  </property>
  <property fmtid="{D5CDD505-2E9C-101B-9397-08002B2CF9AE}" pid="3" name="KSOProductBuildVer">
    <vt:lpwstr>1033-12.2.0.21931</vt:lpwstr>
  </property>
</Properties>
</file>